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>0:00–0:20. Introduce yourself, then Homer: a low-cost ROS 2 mobile manipulator combining a Raspberry Pi, ESP32 base, SO-ARM 101, cameras and LiDAR. The goal is to find an object, approach it and grasp it. This is the project goal; autonomous approach and grasping are not yet demonstrated.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>0:20–0:50. Trace the gamepad-to-base path through the Pi serial bridge and ESP32. Point out the separate arm bridge, LiDAR/mapping and RGB/ToF sensing. ACT is a possible future arm-policy node; its ROS interfaces still need design.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>0:50–1:40. Show the actual paired RGB/ToF snapshot from box-urdf-contact. The box was detected in all three frames. The nominal floor-contact probe produced 1, 4 and 3 candidate pixels; camera calibration and pose remained unqualified, and front clearance stayed null. Frame 000 projected box-mask ToF p5/p50/p95: 0.074/0.556/0.717 m. The reported 0.38 m front-edge reference is a different quantity from camera-ray range, so these values are not a proven distance error. Lesson: object detection alone does not establish usable clearance.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/>
          </ns0:cNvSpPr>
          <ns0:nvPr>
            <ns0:ph type="sldImg" idx="2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3" sz="quarter"/>
          </ns0:nvPr>
        </ns0:nvSpPr>
        <ns0:spPr/>
        <ns0:txBody>
          <ns1:bodyPr/>
          <ns1:lstStyle/>
          <ns1:p>
            <ns1:r>
              <ns1:t>1:40–2:00. Point to the repository URL and QR code for the code, architecture and build notes. Close: Homer has the ROS graph; it is still earning its robot driving licence.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 sz="quarter"/>
          </ns0:nvPr>
        </ns0:nvSpPr>
        <ns0:spPr/>
      </ns0:sp>
    </ns0:spTree>
  </ns0:cSld>
  <ns0:clrMapOvr>
    <ns1:masterClrMapping/>
  </ns0:clrMapOvr>
</ns0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3.xml" /><ns0:Relationship Id="rId3" Type="http://schemas.openxmlformats.org/officeDocument/2006/relationships/image" Target="../media/tof-clearance-evidence.png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.xml" /><ns0:Relationship Id="rId3" Type="http://schemas.openxmlformats.org/officeDocument/2006/relationships/image" Target="../media/homer-repo-qr.png" /><ns0:Relationship Id="rId4" Type="http://schemas.openxmlformats.org/officeDocument/2006/relationships/hyperlink" Target="https://github.com/ao2-yekeen/homer#bill-of-materials-bom" TargetMode="Externa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83464"/>
            <a:ext cx="6400800" cy="23774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4E6D1"/>
                </a:solidFill>
                <a:latin typeface="Aptos"/>
              </a:defRPr>
            </a:pPr>
            <a:r>
              <a:t>YOUR NAME  /  AFFILIATION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83464"/>
            <a:ext cx="1828800" cy="256032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A9BBD0"/>
                </a:solidFill>
                <a:latin typeface="Aptos"/>
              </a:defRPr>
            </a:pPr>
            <a:r>
              <a:t>01 /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1430000" cy="713232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Homer: a low-cost ROS 2 mobile manipulator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492240"/>
            <a:ext cx="11292840" cy="10972"/>
          </a:xfrm>
          <a:prstGeom prst="rect">
            <a:avLst/>
          </a:prstGeom>
          <a:solidFill>
            <a:srgbClr val="304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83680"/>
            <a:ext cx="5486400" cy="182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A9BBD0"/>
                </a:solidFill>
                <a:latin typeface="Aptos"/>
              </a:defRPr>
            </a:pPr>
            <a:r>
              <a:t>ROS 2  •  Mobile manipulation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34E6D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1673352"/>
            <a:ext cx="1865376" cy="338328"/>
          </a:xfrm>
          <a:prstGeom prst="roundRect">
            <a:avLst>
              <a:gd name="adj" fmla="val 30000"/>
            </a:avLst>
          </a:prstGeom>
          <a:solidFill>
            <a:srgbClr val="16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737360"/>
            <a:ext cx="1682496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4E6D1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57984"/>
            <a:ext cx="5074920" cy="221284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3800" b="1">
                <a:solidFill>
                  <a:srgbClr val="F5F8FC"/>
                </a:solidFill>
                <a:latin typeface="Aptos"/>
              </a:defRPr>
            </a:pPr>
            <a:r>
              <a:t>Find objects.</a:t>
            </a:r>
          </a:p>
          <a:p>
            <a:pPr>
              <a:spcAft>
                <a:spcPts val="200"/>
              </a:spcAft>
              <a:defRPr sz="3800" b="1">
                <a:solidFill>
                  <a:srgbClr val="F5F8FC"/>
                </a:solidFill>
                <a:latin typeface="Aptos"/>
              </a:defRPr>
            </a:pPr>
            <a:r>
              <a:t>Approach them.</a:t>
            </a:r>
          </a:p>
          <a:p>
            <a:pPr>
              <a:spcAft>
                <a:spcPts val="200"/>
              </a:spcAft>
              <a:defRPr sz="3800" b="1">
                <a:solidFill>
                  <a:srgbClr val="F5F8FC"/>
                </a:solidFill>
                <a:latin typeface="Aptos"/>
              </a:defRPr>
            </a:pPr>
            <a:r>
              <a:t>Grasp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4983480"/>
            <a:ext cx="5212080" cy="859536"/>
          </a:xfrm>
          <a:prstGeom prst="roundRect">
            <a:avLst>
              <a:gd name="adj" fmla="val 13000"/>
            </a:avLst>
          </a:prstGeom>
          <a:solidFill>
            <a:srgbClr val="16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166360"/>
            <a:ext cx="493776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E6D1"/>
                </a:solidFill>
                <a:latin typeface="Aptos"/>
              </a:defRPr>
            </a:pPr>
            <a:r>
              <a:t>DIFFERENTIAL DRIVE  +  SO-ARM101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477256"/>
            <a:ext cx="4663440" cy="19202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A9BBD0"/>
                </a:solidFill>
                <a:latin typeface="Aptos"/>
              </a:defRPr>
            </a:pPr>
            <a:r>
              <a:t>Raspberry Pi · ESP32 · RGB · ToF · LiDAR</a:t>
            </a:r>
          </a:p>
        </p:txBody>
      </p:sp>
      <p:pic>
        <p:nvPicPr>
          <p:cNvPr id="16" name="Picture 15" descr="robot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545336"/>
            <a:ext cx="4636548" cy="4773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83464"/>
            <a:ext cx="6400800" cy="23774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4E6D1"/>
                </a:solidFill>
                <a:latin typeface="Aptos"/>
              </a:defRPr>
            </a:pPr>
            <a:r>
              <a:t>ROSCON UK 2026  /  LIGHTNING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83464"/>
            <a:ext cx="1828800" cy="256032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A9BBD0"/>
                </a:solidFill>
                <a:latin typeface="Aptos"/>
              </a:defRPr>
            </a:pPr>
            <a:r>
              <a:t>02 / THE ROS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1430000" cy="713232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How Homer fits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47472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A9BBD0"/>
                </a:solidFill>
                <a:latin typeface="Aptos"/>
              </a:defRPr>
            </a:pPr>
            <a:r>
              <a:t>ACT is a future arm-policy node; its ROS observation and command paths still need design.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92240"/>
            <a:ext cx="11292840" cy="10972"/>
          </a:xfrm>
          <a:prstGeom prst="rect">
            <a:avLst/>
          </a:prstGeom>
          <a:solidFill>
            <a:srgbClr val="304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6583680"/>
            <a:ext cx="5486400" cy="182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A9BBD0"/>
                </a:solidFill>
                <a:latin typeface="Aptos"/>
              </a:defRPr>
            </a:pPr>
            <a:r>
              <a:t>ROS 2  •  Mobile manipulation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34E6D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2258568"/>
            <a:ext cx="1490472" cy="338328"/>
          </a:xfrm>
          <a:prstGeom prst="roundRect">
            <a:avLst>
              <a:gd name="adj" fmla="val 30000"/>
            </a:avLst>
          </a:prstGeom>
          <a:solidFill>
            <a:srgbClr val="16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307592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4E6D1"/>
                </a:solidFill>
                <a:latin typeface="Aptos"/>
              </a:defRPr>
            </a:pPr>
            <a:r>
              <a:t>MOBILE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" y="3575304"/>
            <a:ext cx="1490472" cy="338328"/>
          </a:xfrm>
          <a:prstGeom prst="roundRect">
            <a:avLst>
              <a:gd name="adj" fmla="val 30000"/>
            </a:avLst>
          </a:prstGeom>
          <a:solidFill>
            <a:srgbClr val="16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39312"/>
            <a:ext cx="1307592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B454"/>
                </a:solidFill>
                <a:latin typeface="Aptos"/>
              </a:defRPr>
            </a:pPr>
            <a:r>
              <a:t>MANIPULATOR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4892040"/>
            <a:ext cx="1490472" cy="338328"/>
          </a:xfrm>
          <a:prstGeom prst="roundRect">
            <a:avLst>
              <a:gd name="adj" fmla="val 30000"/>
            </a:avLst>
          </a:prstGeom>
          <a:solidFill>
            <a:srgbClr val="16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956048"/>
            <a:ext cx="1307592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4E6D1"/>
                </a:solidFill>
                <a:latin typeface="Aptos"/>
              </a:defRPr>
            </a:pPr>
            <a:r>
              <a:t>PERCEPTION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1947672"/>
            <a:ext cx="2532888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95144" y="2084831"/>
            <a:ext cx="2276856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Gamepad / teleop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5144" y="2514600"/>
            <a:ext cx="2276856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34E6D1"/>
                </a:solidFill>
                <a:latin typeface="Aptos"/>
              </a:defRPr>
            </a:pPr>
            <a:r>
              <a:t>/teleop/cmd_vel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1947672"/>
            <a:ext cx="2542032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084831"/>
            <a:ext cx="2286000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Pi serial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514600"/>
            <a:ext cx="2286000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34E6D1"/>
                </a:solidFill>
                <a:latin typeface="Aptos"/>
              </a:defRPr>
            </a:pPr>
            <a:r>
              <a:t>serial transport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47672"/>
            <a:ext cx="3493008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2084831"/>
            <a:ext cx="3236976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ESP32 + drive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514600"/>
            <a:ext cx="3236976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34E6D1"/>
                </a:solidFill>
                <a:latin typeface="Aptos"/>
              </a:defRPr>
            </a:pPr>
            <a:r>
              <a:t>/odom · status · monitoring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3264408"/>
            <a:ext cx="2532888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95144" y="3401568"/>
            <a:ext cx="2276856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Robot teleop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95144" y="3831335"/>
            <a:ext cx="2276856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FB454"/>
                </a:solidFill>
                <a:latin typeface="Aptos"/>
              </a:defRPr>
            </a:pPr>
            <a:r>
              <a:t>/soarm/command_delta_ticks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38928" y="3264408"/>
            <a:ext cx="2542032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2" y="3401568"/>
            <a:ext cx="2286000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SO-ARM 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3831335"/>
            <a:ext cx="2286000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FB454"/>
                </a:solidFill>
                <a:latin typeface="Aptos"/>
              </a:defRPr>
            </a:pPr>
            <a:r>
              <a:t>USB transport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7304" y="3264408"/>
            <a:ext cx="3493008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401568"/>
            <a:ext cx="3236976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SO-ARM101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3831335"/>
            <a:ext cx="3236976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FB454"/>
                </a:solidFill>
                <a:latin typeface="Aptos"/>
              </a:defRPr>
            </a:pPr>
            <a:r>
              <a:t>joint / gripper actuation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48840" y="4572000"/>
            <a:ext cx="2532888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95144" y="4709160"/>
            <a:ext cx="2276856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RGB + ToF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95144" y="5138928"/>
            <a:ext cx="2276856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34E6D1"/>
                </a:solidFill>
                <a:latin typeface="Aptos"/>
              </a:defRPr>
            </a:pPr>
            <a:r>
              <a:t>object observations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38928" y="4572000"/>
            <a:ext cx="2542032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85232" y="4709160"/>
            <a:ext cx="2286000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LiDAR + odom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5232" y="5138928"/>
            <a:ext cx="2286000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34E6D1"/>
                </a:solidFill>
                <a:latin typeface="Aptos"/>
              </a:defRPr>
            </a:pPr>
            <a:r>
              <a:t>mapping inputs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47304" y="4572000"/>
            <a:ext cx="3493008" cy="1060704"/>
          </a:xfrm>
          <a:prstGeom prst="roundRect">
            <a:avLst>
              <a:gd name="adj" fmla="val 14000"/>
            </a:avLst>
          </a:prstGeom>
          <a:solidFill>
            <a:srgbClr val="162437"/>
          </a:solidFill>
          <a:ln w="13970">
            <a:solidFill>
              <a:srgbClr val="304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3608" y="4709160"/>
            <a:ext cx="3236976" cy="33832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SLAM + transforms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3608" y="5138928"/>
            <a:ext cx="3236976" cy="40233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FB454"/>
                </a:solidFill>
                <a:latin typeface="Aptos"/>
              </a:defRPr>
            </a:pPr>
            <a:r>
              <a:t>IN PROGRESS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800600" y="2478024"/>
            <a:ext cx="219456" cy="0"/>
          </a:xfrm>
          <a:prstGeom prst="line">
            <a:avLst/>
          </a:prstGeom>
          <a:ln w="30480">
            <a:solidFill>
              <a:srgbClr val="34E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010912" y="2441448"/>
            <a:ext cx="82296" cy="82296"/>
          </a:xfrm>
          <a:prstGeom prst="rect">
            <a:avLst/>
          </a:prstGeom>
          <a:solidFill>
            <a:srgbClr val="3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7790688" y="2478024"/>
            <a:ext cx="237743" cy="0"/>
          </a:xfrm>
          <a:prstGeom prst="line">
            <a:avLst/>
          </a:prstGeom>
          <a:ln w="30480">
            <a:solidFill>
              <a:srgbClr val="34E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019288" y="2441448"/>
            <a:ext cx="82296" cy="82296"/>
          </a:xfrm>
          <a:prstGeom prst="rect">
            <a:avLst/>
          </a:prstGeom>
          <a:solidFill>
            <a:srgbClr val="3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800600" y="3794760"/>
            <a:ext cx="219456" cy="0"/>
          </a:xfrm>
          <a:prstGeom prst="line">
            <a:avLst/>
          </a:prstGeom>
          <a:ln w="3048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010912" y="3758184"/>
            <a:ext cx="82296" cy="82296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790688" y="3794760"/>
            <a:ext cx="237743" cy="0"/>
          </a:xfrm>
          <a:prstGeom prst="line">
            <a:avLst/>
          </a:prstGeom>
          <a:ln w="3048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019288" y="3758184"/>
            <a:ext cx="82296" cy="82296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4800600" y="5111496"/>
            <a:ext cx="201168" cy="0"/>
          </a:xfrm>
          <a:prstGeom prst="line">
            <a:avLst/>
          </a:prstGeom>
          <a:ln w="30480">
            <a:solidFill>
              <a:srgbClr val="34E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92624" y="5074920"/>
            <a:ext cx="82296" cy="82296"/>
          </a:xfrm>
          <a:prstGeom prst="rect">
            <a:avLst/>
          </a:prstGeom>
          <a:solidFill>
            <a:srgbClr val="34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790688" y="5111496"/>
            <a:ext cx="237743" cy="0"/>
          </a:xfrm>
          <a:prstGeom prst="line">
            <a:avLst/>
          </a:prstGeom>
          <a:ln w="3048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019288" y="5074920"/>
            <a:ext cx="82296" cy="82296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00584" cy="6858000"/>
          </ns1:xfrm>
          <ns1:prstGeom prst="rect">
            <ns1:avLst/>
          </ns1:prstGeom>
          <ns1:solidFill>
            <ns1:srgbClr val="34E6D1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438912" y="283464"/>
            <ns1:ext cx="6400800" cy="237744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1100" b="1">
                <ns1:solidFill>
                  <ns1:srgbClr val="34E6D1"/>
                </ns1:solidFill>
                <ns1:latin typeface="Aptos"/>
              </ns1:defRPr>
            </ns1:pPr>
            <ns1:r>
              <ns1:t>ROSCON UK 2026  /  LIGHTNING TALK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875520" y="283464"/>
            <ns1:ext cx="1828800" cy="256032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 algn="r">
              <ns1:spcAft>
                <ns1:spcPts val="200"/>
              </ns1:spcAft>
              <ns1:defRPr sz="1100" b="1">
                <ns1:solidFill>
                  <ns1:srgbClr val="A9BBD0"/>
                </ns1:solidFill>
                <ns1:latin typeface="Aptos"/>
              </ns1:defRPr>
            </ns1:pPr>
            <ns1:r>
              <ns1:t>03 / LESSON LEARNED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438912" y="786384"/>
            <ns1:ext cx="11430000" cy="713232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3400" b="1">
                <ns1:solidFill>
                  <ns1:srgbClr val="F5F8FC"/>
                </ns1:solidFill>
                <ns1:latin typeface="Aptos"/>
              </ns1:defRPr>
            </ns1:pPr>
            <ns1:r>
              <ns1:t>The box is visible; clearance isn’t.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457200" y="1508760"/>
            <ns1:ext cx="10972800" cy="347472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1500" b="0">
                <ns1:solidFill>
                  <ns1:srgbClr val="A9BBD0"/>
                </ns1:solidFill>
                <ns1:latin typeface="Aptos"/>
              </ns1:defRPr>
            </ns1:pPr>
            <ns1:r>
              <ns1:t>Three paired RGB/ToF frames show why object detection alone cannot prove distance.</ns1:t>
            </ns1:r>
          </ns1:p>
        </ns0:txBody>
      </ns0:sp>
      <ns0:sp>
        <ns0:nvSpPr>
          <ns0:cNvPr id="8" name="Rectangle 7"/>
          <ns0:cNvSpPr/>
          <ns0:nvPr/>
        </ns0:nvSpPr>
        <ns0:spPr>
          <ns1:xfrm>
            <ns1:off x="438912" y="6492240"/>
            <ns1:ext cx="11292840" cy="10972"/>
          </ns1:xfrm>
          <ns1:prstGeom prst="rect">
            <ns1:avLst/>
          </ns1:prstGeom>
          <ns1:solidFill>
            <ns1:srgbClr val="30435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438912" y="6583680"/>
            <ns1:ext cx="5486400" cy="182880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1000" b="0">
                <ns1:solidFill>
                  <ns1:srgbClr val="A9BBD0"/>
                </ns1:solidFill>
                <ns1:latin typeface="Aptos"/>
              </ns1:defRPr>
            </ns1:pPr>
            <ns1:r>
              <ns1:t>ROS 2  •  Mobile manipulation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1201400" y="6537960"/>
            <ns1:ext cx="502920" cy="228600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 algn="r">
              <ns1:spcAft>
                <ns1:spcPts val="200"/>
              </ns1:spcAft>
              <ns1:defRPr sz="1200" b="1">
                <ns1:solidFill>
                  <ns1:srgbClr val="34E6D1"/>
                </ns1:solidFill>
                <ns1:latin typeface="Aptos"/>
              </ns1:defRPr>
            </ns1:pPr>
            <ns1:r>
              <ns1:t>03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457200" y="1984248"/>
            <ns1:ext cx="5257800" cy="1417320"/>
          </ns1:xfrm>
          <ns1:prstGeom prst="roundRect">
            <ns1:avLst>
              <ns1:gd name="adj" fmla="val 12000"/>
            </ns1:avLst>
          </ns1:prstGeom>
          <ns1:solidFill>
            <ns1:srgbClr val="16243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ectangle 11"/>
          <ns0:cNvSpPr/>
          <ns0:nvPr/>
        </ns0:nvSpPr>
        <ns0:spPr>
          <ns1:xfrm>
            <ns1:off x="457200" y="1984248"/>
            <ns1:ext cx="50292" cy="1417320"/>
          </ns1:xfrm>
          <ns1:prstGeom prst="rect">
            <ns1:avLst/>
          </ns1:prstGeom>
          <ns1:solidFill>
            <ns1:srgbClr val="34E6D1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457200" y="3602736"/>
            <ns1:ext cx="5257800" cy="1490472"/>
          </ns1:xfrm>
          <ns1:prstGeom prst="roundRect">
            <ns1:avLst>
              <ns1:gd name="adj" fmla="val 12000"/>
            </ns1:avLst>
          </ns1:prstGeom>
          <ns1:solidFill>
            <ns1:srgbClr val="16243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ectangle 15"/>
          <ns0:cNvSpPr/>
          <ns0:nvPr/>
        </ns0:nvSpPr>
        <ns0:spPr>
          <ns1:xfrm>
            <ns1:off x="457200" y="3602736"/>
            <ns1:ext cx="50292" cy="1490472"/>
          </ns1:xfrm>
          <ns1:prstGeom prst="rect">
            <ns1:avLst/>
          </ns1:prstGeom>
          <ns1:solidFill>
            <ns1:srgbClr val="34E6D1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Rounded Rectangle 18"/>
          <ns0:cNvSpPr/>
          <ns0:nvPr/>
        </ns0:nvSpPr>
        <ns0:spPr>
          <ns1:xfrm>
            <ns1:off x="5943600" y="1984248"/>
            <ns1:ext cx="5779008" cy="3099816"/>
          </ns1:xfrm>
          <ns1:prstGeom prst="roundRect">
            <ns1:avLst>
              <ns1:gd name="adj" fmla="val 10000"/>
            </ns1:avLst>
          </ns1:prstGeom>
          <ns1:solidFill>
            <ns1:srgbClr val="16243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1" name="Rounded Rectangle 30"/>
          <ns0:cNvSpPr/>
          <ns0:nvPr/>
        </ns0:nvSpPr>
        <ns0:spPr>
          <ns1:xfrm>
            <ns1:off x="457200" y="5394960"/>
            <ns1:ext cx="11265408" cy="685800"/>
          </ns1:xfrm>
          <ns1:prstGeom prst="roundRect">
            <ns1:avLst>
              <ns1:gd name="adj" fmla="val 15000"/>
            </ns1:avLst>
          </ns1:prstGeom>
          <ns1:solidFill>
            <ns1:srgbClr val="2B202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2" name="Paired RGB and ToF clearance evidence" descr="Three-pair box test; projected ToF depth and withheld clearance"/>
          <ns0:cNvPicPr/>
          <ns0:nvPr/>
        </ns0:nvPicPr>
        <ns0:blipFill>
          <ns1:blip ns2:embed="rId3"/>
          <ns1:stretch>
            <ns1:fillRect/>
          </ns1:stretch>
        </ns0:blipFill>
        <ns0:spPr>
          <ns1:xfrm>
            <ns1:off x="400000" y="1880000"/>
            <ns1:ext cx="11450000" cy="41220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4" name="TextBox 3"/>
          <ns0:cNvSpPr txBox="1"/>
          <ns0:nvPr/>
        </ns0:nvSpPr>
        <ns0:spPr>
          <ns1:xfrm>
            <ns1:off x="438912" y="283464"/>
            <ns1:ext cx="6400800" cy="237744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1100" b="1">
                <ns1:solidFill>
                  <ns1:srgbClr val="34E6D1"/>
                </ns1:solidFill>
                <ns1:latin typeface="Aptos"/>
              </ns1:defRPr>
            </ns1:pPr>
            <ns1:r>
              <ns1:t>ROSCON UK 2026  /  LIGHTNING TALK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875520" y="283464"/>
            <ns1:ext cx="1828800" cy="256032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 algn="r">
              <ns1:spcAft>
                <ns1:spcPts val="200"/>
              </ns1:spcAft>
              <ns1:defRPr sz="1100" b="1">
                <ns1:solidFill>
                  <ns1:srgbClr val="A9BBD0"/>
                </ns1:solidFill>
                <ns1:latin typeface="Aptos"/>
              </ns1:defRPr>
            </ns1:pPr>
            <ns1:r>
              <ns1:t>04 / FIND OUT MORE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438912" y="786384"/>
            <ns1:ext cx="11430000" cy="713232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3400" b="1">
                <ns1:solidFill>
                  <ns1:srgbClr val="F5F8FC"/>
                </ns1:solidFill>
                <ns1:latin typeface="Aptos"/>
              </ns1:defRPr>
            </ns1:pPr>
            <ns1:r>
              <ns1:t>Find Homer and the build notes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438912" y="6583680"/>
            <ns1:ext cx="5486400" cy="182880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1000" b="0">
                <ns1:solidFill>
                  <ns1:srgbClr val="A9BBD0"/>
                </ns1:solidFill>
                <ns1:latin typeface="Aptos"/>
              </ns1:defRPr>
            </ns1:pPr>
            <ns1:r>
              <ns1:t>ROS 2  •  Mobile manipulation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11201400" y="6537960"/>
            <ns1:ext cx="502920" cy="228600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 algn="r">
              <ns1:spcAft>
                <ns1:spcPts val="200"/>
              </ns1:spcAft>
              <ns1:defRPr sz="1200" b="1">
                <ns1:solidFill>
                  <ns1:srgbClr val="34E6D1"/>
                </ns1:solidFill>
                <ns1:latin typeface="Aptos"/>
              </ns1:defRPr>
            </ns1:pPr>
            <ns1:r>
              <ns1:t>04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86384" y="2203704"/>
            <ns1:ext cx="1097280" cy="731520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4300" b="1">
                <ns1:solidFill>
                  <ns1:srgbClr val="34E6D1"/>
                </ns1:solidFill>
                <ns1:latin typeface="Aptos"/>
              </ns1:defRPr>
            </ns1:pPr>
            <ns1:r>
              <ns1:t>01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1847088" y="2240280"/>
            <ns1:ext cx="9052560" cy="548640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3000" b="1">
                <ns1:solidFill>
                  <ns1:srgbClr val="F5F8FC"/>
                </ns1:solidFill>
                <ns1:latin typeface="Aptos"/>
              </ns1:defRPr>
            </ns1:pPr>
            <ns1:r>
              <ns1:rPr>
                <ns2:hlinkClick ns2:id="rId4"/>
              </ns1:rPr>
              <ns1:t>github.com/ao2-yekeen/homer#bill-of-materials-bom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1874519" y="3008376"/>
            <ns1:ext cx="8961120" cy="466344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1800" b="0">
                <ns1:solidFill>
                  <ns1:srgbClr val="A9BBD0"/>
                </ns1:solidFill>
                <ns1:latin typeface="Aptos"/>
              </ns1:defRPr>
            </ns1:pPr>
            <ns1:r>
              <ns1:t>Scan the code for the repo: ROS graph, hardware notes and the software.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722376" y="4663440"/>
            <ns1:ext cx="484632" cy="429768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2000" b="1">
                <ns1:solidFill>
                  <ns1:srgbClr val="34E6D1"/>
                </ns1:solidFill>
                <ns1:latin typeface="Aptos"/>
              </ns1:defRPr>
            </ns1:pPr>
            <ns1:r>
              <ns1:t>02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1380744" y="4636008"/>
            <ns1:ext cx="4343400" cy="402336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2200" b="1">
                <ns1:solidFill>
                  <ns1:srgbClr val="F5F8FC"/>
                </ns1:solidFill>
                <ns1:latin typeface="Aptos"/>
              </ns1:defRPr>
            </ns1:pPr>
            <ns1:r>
              <ns1:t>A live graph, still earning its robot driving licence.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521207" y="5833872"/>
            <ns1:ext cx="10881360" cy="320040"/>
          </ns1:xfrm>
          <ns1:prstGeom prst="rect">
            <ns1:avLst/>
          </ns1:prstGeom>
          <ns1:noFill/>
        </ns0:spPr>
        <ns0:txBody>
          <ns1:bodyPr wrap="square" lIns="0" tIns="0" bIns="0" rIns="0">
            <ns1:spAutoFit/>
          </ns1:bodyPr>
          <ns1:lstStyle/>
          <ns1:p>
            <ns1:pPr>
              <ns1:spcAft>
                <ns1:spcPts val="200"/>
              </ns1:spcAft>
              <ns1:defRPr sz="1600" b="0">
                <ns1:solidFill>
                  <ns1:srgbClr val="A9BBD0"/>
                </ns1:solidFill>
                <ns1:latin typeface="Aptos"/>
              </ns1:defRPr>
            </ns1:pPr>
            <ns1:r>
              <ns1:t>Homer project · ROS 2 · Raspberry Pi · ESP32 · SO-ARM 101</ns1:t>
            </ns1:r>
          </ns1:p>
        </ns0:txBody>
      </ns0:sp>
      <ns0:pic>
        <ns0:nvPicPr>
          <ns0:cNvPr id="21" name="Homer repository QR code" descr="Scan to open the Homer GitHub repository"/>
          <ns0:cNvPicPr/>
          <ns0:nvPr/>
        </ns0:nvPicPr>
        <ns0:blipFill>
          <ns1:blip ns2:embed="rId3"/>
          <ns1:stretch>
            <ns1:fillRect/>
          </ns1:stretch>
        </ns0:blipFill>
        <ns0:spPr>
          <ns1:xfrm>
            <ns1:off x="8500000" y="2200000"/>
            <ns1:ext cx="2600000" cy="26000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